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8C6C47-962D-4D96-80E1-71C453D167B9}" v="1" dt="2026-01-31T11:30:59.9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82" autoAdjust="0"/>
    <p:restoredTop sz="94610"/>
  </p:normalViewPr>
  <p:slideViewPr>
    <p:cSldViewPr snapToGrid="0" snapToObjects="1">
      <p:cViewPr>
        <p:scale>
          <a:sx n="66" d="100"/>
          <a:sy n="66" d="100"/>
        </p:scale>
        <p:origin x="1180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025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10" Type="http://schemas.openxmlformats.org/officeDocument/2006/relationships/image" Target="../media/image13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0140" y="1371600"/>
            <a:ext cx="36576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57200" y="170307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UPI Fraud Detection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2994661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Machine Learning and Deep Learning</a:t>
            </a:r>
            <a:endParaRPr lang="en-US" sz="24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 Revolution in India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Unified Payments Interface (UPI) has transformed financial transactions in India, democratizing financial inclusion through seamless, instant fund transfers.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Fraudulent transactions have become a growing problem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Fraudsters continuously adapt to detection systems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of large transaction volumes is impossible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is crucial to prevent further fraud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860" y="914400"/>
            <a:ext cx="403098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 &amp; Solution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914400"/>
            <a:ext cx="548640" cy="548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645920"/>
            <a:ext cx="3931920" cy="2926080"/>
          </a:xfrm>
          <a:prstGeom prst="rect">
            <a:avLst/>
          </a:prstGeom>
          <a:solidFill>
            <a:srgbClr val="FEE2E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457200" y="1737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991B1B"/>
                </a:solidFill>
              </a:rPr>
              <a:t>PROBLEM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0080" y="22860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7F1D1D"/>
                </a:solidFill>
              </a:rPr>
              <a:t>Large volume of transactions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7F1D1D"/>
                </a:solidFill>
              </a:rPr>
              <a:t>Evolving fraud patterns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7F1D1D"/>
                </a:solidFill>
              </a:rPr>
              <a:t>Manual detection ineffective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7F1D1D"/>
                </a:solidFill>
              </a:rPr>
              <a:t>Security vulnerabilities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7F1D1D"/>
                </a:solidFill>
              </a:rPr>
              <a:t>Need for real-time detection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914400"/>
            <a:ext cx="548640" cy="5486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754880" y="1645920"/>
            <a:ext cx="3931920" cy="292608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/>
          <p:nvPr/>
        </p:nvSpPr>
        <p:spPr>
          <a:xfrm>
            <a:off x="4754880" y="17373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F46"/>
                </a:solidFill>
              </a:rPr>
              <a:t>SOLUTION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4937760" y="22860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64E3B"/>
                </a:solidFill>
              </a:rPr>
              <a:t>Machine Learning algorithms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64E3B"/>
                </a:solidFill>
              </a:rPr>
              <a:t>Deep Learning techniques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64E3B"/>
                </a:solidFill>
              </a:rPr>
              <a:t>Automated pattern recognition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64E3B"/>
                </a:solidFill>
              </a:rPr>
              <a:t>Real-time fraud detection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064E3B"/>
                </a:solidFill>
              </a:rPr>
              <a:t>Adaptive to new threats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Objectives</a:t>
            </a:r>
            <a:endParaRPr lang="en-US" sz="3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18872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0972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Data Collection &amp; Preprocessing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Gather and pre-process diverse UPI transaction datasets for effective fraud detection</a:t>
            </a:r>
            <a:endParaRPr lang="en-US" sz="16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011680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8720" y="19202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Feature Engineering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Identify pertinent features and create new metrics to enhance model discrimination</a:t>
            </a:r>
            <a:endParaRPr lang="en-US" sz="1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834640"/>
            <a:ext cx="411480" cy="4114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88720" y="2743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Algorithm Selection &amp; Training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Select and train ML/DL algorithms for effective fraud detection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657600"/>
            <a:ext cx="411480" cy="41148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88720" y="35661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System Integration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Integrate trained model into UPI system for real-time processing with alert mechanisms</a:t>
            </a:r>
            <a:endParaRPr lang="en-US" sz="16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4480560"/>
            <a:ext cx="411480" cy="41148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88720" y="4389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</a:rPr>
              <a:t>Continuous Improvement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Establish monitoring, updates, and explore ensemble methods for model robustness</a:t>
            </a:r>
            <a:endParaRPr lang="en-US" sz="16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30779" y="1097280"/>
            <a:ext cx="3368841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Methodology: Supervised Learning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8229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0700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097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</a:rPr>
              <a:t>1. Model Construction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280160" y="14173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Define model architecture based on ML/DL algorithm. Save learned rules and data structures for predictions.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920240"/>
            <a:ext cx="5029200" cy="82296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121408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0116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</a:rPr>
              <a:t>2. Model Training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280160" y="2331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Train model using training data with labeled inputs and outputs. Report final accuracy metrics.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2834640"/>
            <a:ext cx="5029200" cy="8229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035808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29260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</a:rPr>
              <a:t>3. Model Testing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280160" y="3246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Validate with unseen test data to verify true accuracy and generalization capability.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7200" y="3749040"/>
            <a:ext cx="5029200" cy="82296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950208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80160" y="38404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8A"/>
                </a:solidFill>
              </a:rPr>
              <a:t>4. Model Evaluation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280160" y="41605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</a:rPr>
              <a:t>Use Hold-Out and Cross-Validation methods to assess performance and avoid overfitting.</a:t>
            </a:r>
            <a:endParaRPr lang="en-US" sz="13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0" y="1371600"/>
            <a:ext cx="332994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828800" cy="1280160"/>
          </a:xfrm>
          <a:prstGeom prst="rect">
            <a:avLst/>
          </a:prstGeom>
          <a:solidFill>
            <a:srgbClr val="3B82F6"/>
          </a:solidFill>
          <a:ln w="254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600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Dataset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(Labeled: Real/Fraud)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560320" y="914400"/>
            <a:ext cx="1828800" cy="1280160"/>
          </a:xfrm>
          <a:prstGeom prst="rect">
            <a:avLst/>
          </a:prstGeom>
          <a:solidFill>
            <a:srgbClr val="3B82F6"/>
          </a:solidFill>
          <a:ln w="254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09728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60320" y="1600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Input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Preprocessing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663440" y="914400"/>
            <a:ext cx="1828800" cy="1280160"/>
          </a:xfrm>
          <a:prstGeom prst="rect">
            <a:avLst/>
          </a:prstGeom>
          <a:solidFill>
            <a:srgbClr val="3B82F6"/>
          </a:solidFill>
          <a:ln w="254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09728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63440" y="1600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Feature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Selection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766560" y="914400"/>
            <a:ext cx="1828800" cy="1280160"/>
          </a:xfrm>
          <a:prstGeom prst="rect">
            <a:avLst/>
          </a:prstGeom>
          <a:solidFill>
            <a:srgbClr val="3B82F6"/>
          </a:solidFill>
          <a:ln w="254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0" y="109728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766560" y="1600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Training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457200" y="2560320"/>
            <a:ext cx="1828800" cy="1280160"/>
          </a:xfrm>
          <a:prstGeom prst="rect">
            <a:avLst/>
          </a:prstGeom>
          <a:solidFill>
            <a:srgbClr val="3B82F6"/>
          </a:solidFill>
          <a:ln w="254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274320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57200" y="3246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Evaluation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(Metrics)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2560320" y="2560320"/>
            <a:ext cx="1828800" cy="1280160"/>
          </a:xfrm>
          <a:prstGeom prst="rect">
            <a:avLst/>
          </a:prstGeom>
          <a:solidFill>
            <a:srgbClr val="3B82F6"/>
          </a:solidFill>
          <a:ln w="254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6120" y="2743200"/>
            <a:ext cx="457200" cy="4572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2560320" y="3246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Best Model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Selection</a:t>
            </a:r>
            <a:endParaRPr lang="en-US" sz="1300" dirty="0"/>
          </a:p>
        </p:txBody>
      </p:sp>
      <p:sp>
        <p:nvSpPr>
          <p:cNvPr id="22" name="Shape 14"/>
          <p:cNvSpPr/>
          <p:nvPr/>
        </p:nvSpPr>
        <p:spPr>
          <a:xfrm>
            <a:off x="4663440" y="2560320"/>
            <a:ext cx="1828800" cy="1280160"/>
          </a:xfrm>
          <a:prstGeom prst="rect">
            <a:avLst/>
          </a:prstGeom>
          <a:solidFill>
            <a:srgbClr val="3B82F6"/>
          </a:solidFill>
          <a:ln w="254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9240" y="2743200"/>
            <a:ext cx="457200" cy="4572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4663440" y="3246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Prediction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Engine</a:t>
            </a:r>
            <a:endParaRPr lang="en-US" sz="1300" dirty="0"/>
          </a:p>
        </p:txBody>
      </p:sp>
      <p:sp>
        <p:nvSpPr>
          <p:cNvPr id="25" name="Shape 16"/>
          <p:cNvSpPr/>
          <p:nvPr/>
        </p:nvSpPr>
        <p:spPr>
          <a:xfrm>
            <a:off x="6766560" y="2560320"/>
            <a:ext cx="1828800" cy="1280160"/>
          </a:xfrm>
          <a:prstGeom prst="rect">
            <a:avLst/>
          </a:prstGeom>
          <a:solidFill>
            <a:srgbClr val="3B82F6"/>
          </a:solidFill>
          <a:ln w="254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52360" y="2743200"/>
            <a:ext cx="457200" cy="4572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766560" y="3246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Real-time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Detection</a:t>
            </a:r>
            <a:endParaRPr lang="en-US" sz="1300" dirty="0"/>
          </a:p>
        </p:txBody>
      </p:sp>
      <p:sp>
        <p:nvSpPr>
          <p:cNvPr id="28" name="Shape 18"/>
          <p:cNvSpPr/>
          <p:nvPr/>
        </p:nvSpPr>
        <p:spPr>
          <a:xfrm>
            <a:off x="2286000" y="1554480"/>
            <a:ext cx="274320" cy="182880"/>
          </a:xfrm>
          <a:prstGeom prst="rightArrow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19"/>
          <p:cNvSpPr/>
          <p:nvPr/>
        </p:nvSpPr>
        <p:spPr>
          <a:xfrm>
            <a:off x="4389120" y="1554480"/>
            <a:ext cx="274320" cy="182880"/>
          </a:xfrm>
          <a:prstGeom prst="rightArrow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0"/>
          <p:cNvSpPr/>
          <p:nvPr/>
        </p:nvSpPr>
        <p:spPr>
          <a:xfrm>
            <a:off x="6492240" y="1554480"/>
            <a:ext cx="274320" cy="182880"/>
          </a:xfrm>
          <a:prstGeom prst="rightArrow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1"/>
          <p:cNvSpPr/>
          <p:nvPr/>
        </p:nvSpPr>
        <p:spPr>
          <a:xfrm rot="5400000">
            <a:off x="7680960" y="2194560"/>
            <a:ext cx="274320" cy="182880"/>
          </a:xfrm>
          <a:prstGeom prst="rightArrow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2"/>
          <p:cNvSpPr/>
          <p:nvPr/>
        </p:nvSpPr>
        <p:spPr>
          <a:xfrm rot="10800000">
            <a:off x="6492240" y="3200400"/>
            <a:ext cx="274320" cy="182880"/>
          </a:xfrm>
          <a:prstGeom prst="rightArrow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23"/>
          <p:cNvSpPr/>
          <p:nvPr/>
        </p:nvSpPr>
        <p:spPr>
          <a:xfrm rot="10800000">
            <a:off x="4389120" y="3200400"/>
            <a:ext cx="274320" cy="182880"/>
          </a:xfrm>
          <a:prstGeom prst="rightArrow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24"/>
          <p:cNvSpPr/>
          <p:nvPr/>
        </p:nvSpPr>
        <p:spPr>
          <a:xfrm rot="10800000">
            <a:off x="2286000" y="3200400"/>
            <a:ext cx="274320" cy="182880"/>
          </a:xfrm>
          <a:prstGeom prst="rightArrow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25"/>
          <p:cNvSpPr/>
          <p:nvPr/>
        </p:nvSpPr>
        <p:spPr>
          <a:xfrm rot="5400000">
            <a:off x="1371600" y="2194560"/>
            <a:ext cx="274320" cy="182880"/>
          </a:xfrm>
          <a:prstGeom prst="rightArrow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26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3A8A"/>
                </a:solidFill>
              </a:rPr>
              <a:t>ML Algorithms: Random Forest, XGBoost, Light GBM, Decision Tree, Logistic Regression</a:t>
            </a:r>
            <a:endParaRPr lang="en-US" sz="1100" dirty="0"/>
          </a:p>
        </p:txBody>
      </p:sp>
      <p:sp>
        <p:nvSpPr>
          <p:cNvPr id="37" name="Text 27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3A8A"/>
                </a:solidFill>
              </a:rPr>
              <a:t>DL Algorithms: CNN, RNN, LSTM, Neural Networks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Machine Learning &amp; Deep Learning Algorithms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4114800" cy="320040"/>
          </a:xfrm>
          <a:prstGeom prst="rect">
            <a:avLst/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8A"/>
                </a:solidFill>
              </a:rPr>
              <a:t>Machine Learning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0" cy="59436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73152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35331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Random Forest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Ensemble method using multiple decision trees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38528"/>
            <a:ext cx="4114800" cy="5943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73152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0080" y="20116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XGBoost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2585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Gradient boosting optimized for performance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596896"/>
            <a:ext cx="4114800" cy="59436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57200" y="2596896"/>
            <a:ext cx="73152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0080" y="267004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Light GBM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291693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Histogram-based gradient boosting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55264"/>
            <a:ext cx="4114800" cy="594360"/>
          </a:xfrm>
          <a:prstGeom prst="rect">
            <a:avLst/>
          </a:prstGeom>
          <a:solidFill>
            <a:srgbClr val="F3F4F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57200" y="3255264"/>
            <a:ext cx="73152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0080" y="332841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Decision Tree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57530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Tree-based interpretable classification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13632"/>
            <a:ext cx="4114800" cy="594360"/>
          </a:xfrm>
          <a:prstGeom prst="rect">
            <a:avLst/>
          </a:prstGeom>
          <a:solidFill>
            <a:srgbClr val="EFF6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457200" y="3913632"/>
            <a:ext cx="73152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640080" y="398678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8A"/>
                </a:solidFill>
              </a:rPr>
              <a:t>Logistic Regression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42336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</a:rPr>
              <a:t>Statistical binary classification method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868680"/>
            <a:ext cx="3657600" cy="320040"/>
          </a:xfrm>
          <a:prstGeom prst="rect">
            <a:avLst/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Deep Learning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029200" y="1280160"/>
            <a:ext cx="3657600" cy="59436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029200" y="1280160"/>
            <a:ext cx="73152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212080" y="1353312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Neural Networks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12080" y="160020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</a:rPr>
              <a:t>Multi-layer perceptron for complex patterns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0" y="1938528"/>
            <a:ext cx="3657600" cy="594360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029200" y="1938528"/>
            <a:ext cx="73152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212080" y="20116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CNN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12080" y="225856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</a:rPr>
              <a:t>Convolutional networks for pattern recognition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0" y="2596896"/>
            <a:ext cx="3657600" cy="59436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029200" y="2596896"/>
            <a:ext cx="73152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212080" y="2670048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RNN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12080" y="291693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</a:rPr>
              <a:t>Recurrent networks for sequential data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0" y="3255264"/>
            <a:ext cx="3657600" cy="594360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5029200" y="3255264"/>
            <a:ext cx="73152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212080" y="3328416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LSTM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212080" y="3575304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D5DB"/>
                </a:solidFill>
              </a:rPr>
              <a:t>Long Short-Term Memory for time-series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 for Fraud Detection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8600" y="1116531"/>
            <a:ext cx="2743200" cy="118872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234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</a:rPr>
              <a:t>Transaction Amount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94360" y="1691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Unusual transaction values and patterns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154430"/>
            <a:ext cx="2743200" cy="118872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2344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14800" y="1234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</a:rPr>
              <a:t>Timestamp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566160" y="1691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Time-based features weighted heavily for analysis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63640" y="1163454"/>
            <a:ext cx="2743200" cy="118872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123444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86600" y="12344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</a:rPr>
              <a:t>Payer &amp; Payee Data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537960" y="1691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User identification and behavioral patterns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228600" y="2537460"/>
            <a:ext cx="2743200" cy="118872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260604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2606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</a:rPr>
              <a:t>Location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594360" y="3063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Geographic anomalies and location-based risks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3246120" y="2537460"/>
            <a:ext cx="2743200" cy="118872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260604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114800" y="2606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</a:rPr>
              <a:t>Device Information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3566160" y="3063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Device fingerprinting and anomaly detection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263640" y="2539866"/>
            <a:ext cx="2743200" cy="1188720"/>
          </a:xfrm>
          <a:prstGeom prst="rect">
            <a:avLst/>
          </a:prstGeom>
          <a:solidFill>
            <a:srgbClr val="DBEAF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260604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086600" y="26060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3A8A"/>
                </a:solidFill>
              </a:rPr>
              <a:t>Transaction Frequency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6537960" y="3063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</a:rPr>
              <a:t>Velocity checks and pattern analysis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Scope &amp; Enhancements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Techniques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deep learning architectures (Transformers, GANs)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biometrics for user profiling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adaptive learning systems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Integration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 compatibility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(XAI) for transparency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integration for secure auditing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Collaboration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fraud detection networks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data sharing frameworks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097280"/>
            <a:ext cx="3200400" cy="23774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840480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11430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208026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fraud detection using ML and DL is crucial for securing digital payments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Benefits:</a:t>
            </a:r>
            <a:endParaRPr lang="en-US" sz="1400" dirty="0"/>
          </a:p>
          <a:p>
            <a:pPr marL="342900" indent="-342900" algn="ctr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accuracy through deep learning</a:t>
            </a:r>
            <a:endParaRPr lang="en-US" sz="1400" dirty="0"/>
          </a:p>
          <a:p>
            <a:pPr marL="342900" indent="-342900" algn="ctr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 and intervention</a:t>
            </a:r>
            <a:endParaRPr lang="en-US" sz="1400" dirty="0"/>
          </a:p>
          <a:p>
            <a:pPr marL="342900" indent="-342900" algn="ctr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Adaptability to evolving fraud patterns</a:t>
            </a:r>
            <a:endParaRPr lang="en-US" sz="1400" dirty="0"/>
          </a:p>
          <a:p>
            <a:pPr marL="342900" indent="-342900" algn="ctr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Increased user trust and confidence</a:t>
            </a:r>
            <a:endParaRPr lang="en-US" sz="1400" dirty="0"/>
          </a:p>
          <a:p>
            <a:pPr marL="342900" indent="-342900" algn="ctr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financial losses for institutions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prioritizes ethical considerations, user privacy, and regulatory compliance while strengthening the overall security of UPI transactions.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455756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i="1" dirty="0">
                <a:solidFill>
                  <a:srgbClr val="10B981"/>
                </a:solidFill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560</Words>
  <Application>Microsoft Office PowerPoint</Application>
  <PresentationFormat>On-screen Show (16:9)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Project: UPI Fraud Detection using Machine Learning and Deep Learning</dc:title>
  <dc:subject>PptxGenJS Presentation</dc:subject>
  <dc:creator>Shabreshwari R M, Shafiya Mehrooz, Sidra Fatima, Tanmai R B</dc:creator>
  <cp:lastModifiedBy>ArunKumar Kesa</cp:lastModifiedBy>
  <cp:revision>2</cp:revision>
  <dcterms:created xsi:type="dcterms:W3CDTF">2026-01-31T11:11:38Z</dcterms:created>
  <dcterms:modified xsi:type="dcterms:W3CDTF">2026-01-31T11:39:52Z</dcterms:modified>
</cp:coreProperties>
</file>